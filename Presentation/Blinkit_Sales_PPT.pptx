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60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2064" y="621792"/>
            <a:ext cx="146304" cy="5440680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960120"/>
            <a:ext cx="53949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3600" b="1" i="0">
                <a:solidFill>
                  <a:srgbClr val="262626"/>
                </a:solidFill>
                <a:latin typeface="Aptos Display"/>
              </a:defRPr>
            </a:pPr>
            <a:r>
              <a:t>BLINKIT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5486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262626"/>
                </a:solidFill>
                <a:latin typeface="Aptos Display"/>
              </a:defRPr>
            </a:pPr>
            <a:r>
              <a:t>SALES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50592"/>
            <a:ext cx="5394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262626"/>
                </a:solidFill>
                <a:latin typeface="Aptos"/>
              </a:defRPr>
            </a:pPr>
            <a:r>
              <a:t>POWER BI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944368"/>
            <a:ext cx="868680" cy="73152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3264408"/>
            <a:ext cx="521208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0" i="0">
                <a:solidFill>
                  <a:srgbClr val="262626"/>
                </a:solidFill>
                <a:latin typeface="Aptos"/>
              </a:defRPr>
            </a:pPr>
            <a:r>
              <a:t>Sales performance • Product categories</a:t>
            </a:r>
          </a:p>
          <a:p>
            <a:pPr algn="l">
              <a:spcAft>
                <a:spcPts val="400"/>
              </a:spcAft>
              <a:defRPr sz="1700" b="0" i="0">
                <a:solidFill>
                  <a:srgbClr val="262626"/>
                </a:solidFill>
                <a:latin typeface="Aptos"/>
              </a:defRPr>
            </a:pPr>
            <a:r>
              <a:t>Outlet characteristics • Customer ratings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120640"/>
            <a:ext cx="4389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Presented by</a:t>
            </a:r>
          </a:p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Saniya Godikat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896112"/>
            <a:ext cx="416052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1188720"/>
            <a:ext cx="3383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262626"/>
                </a:solidFill>
                <a:latin typeface="Aptos"/>
              </a:defRPr>
            </a:pPr>
            <a:r>
              <a:t>SALES AT A GLANCE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19072"/>
            <a:ext cx="1572768" cy="987552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0688" y="1883664"/>
            <a:ext cx="13533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262626"/>
                </a:solidFill>
                <a:latin typeface="Aptos"/>
              </a:defRPr>
            </a:pPr>
            <a:r>
              <a:t>$1.20M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276856"/>
            <a:ext cx="13533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719072"/>
            <a:ext cx="1700784" cy="987552"/>
          </a:xfrm>
          <a:prstGeom prst="roundRect">
            <a:avLst>
              <a:gd name="adj" fmla="val 12000"/>
            </a:avLst>
          </a:prstGeom>
          <a:solidFill>
            <a:srgbClr val="E9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28048" y="1883664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262626"/>
                </a:solidFill>
                <a:latin typeface="Aptos"/>
              </a:defRPr>
            </a:pPr>
            <a:r>
              <a:t>8.52K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276856"/>
            <a:ext cx="14813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Items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871216"/>
            <a:ext cx="1572768" cy="987552"/>
          </a:xfrm>
          <a:prstGeom prst="roundRect">
            <a:avLst>
              <a:gd name="adj" fmla="val 12000"/>
            </a:avLst>
          </a:prstGeom>
          <a:solidFill>
            <a:srgbClr val="E9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0688" y="3035808"/>
            <a:ext cx="13533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262626"/>
                </a:solidFill>
                <a:latin typeface="Aptos"/>
              </a:defRPr>
            </a:pPr>
            <a:r>
              <a:t>3.9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429000"/>
            <a:ext cx="13533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Avg Rating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2871216"/>
            <a:ext cx="1700784" cy="987552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8048" y="3035808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262626"/>
                </a:solidFill>
                <a:latin typeface="Aptos"/>
              </a:defRPr>
            </a:pPr>
            <a:r>
              <a:t>$141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3429000"/>
            <a:ext cx="14813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Avg 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559552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0C831F"/>
                </a:solidFill>
                <a:latin typeface="Aptos"/>
              </a:defRPr>
            </a:pPr>
            <a:r>
              <a:t>Power BI  |  Power Query  | 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Presentation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A concise walkthrough of the project and its findings.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64208"/>
            <a:ext cx="658368" cy="512064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773936"/>
            <a:ext cx="5852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0C831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37360"/>
            <a:ext cx="8778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62626"/>
                </a:solidFill>
                <a:latin typeface="Aptos"/>
              </a:defRPr>
            </a:pPr>
            <a:r>
              <a:t>Project overview and objective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23744"/>
            <a:ext cx="658368" cy="512064"/>
          </a:xfrm>
          <a:prstGeom prst="roundRect">
            <a:avLst>
              <a:gd name="adj" fmla="val 12000"/>
            </a:avLst>
          </a:prstGeom>
          <a:solidFill>
            <a:srgbClr val="E9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633472"/>
            <a:ext cx="5852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0C831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96896"/>
            <a:ext cx="8778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62626"/>
                </a:solidFill>
                <a:latin typeface="Aptos"/>
              </a:defRPr>
            </a:pPr>
            <a:r>
              <a:t>Dataset and data preparation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658368" cy="512064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3493008"/>
            <a:ext cx="5852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0C831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56432"/>
            <a:ext cx="8778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62626"/>
                </a:solidFill>
                <a:latin typeface="Aptos"/>
              </a:defRPr>
            </a:pPr>
            <a:r>
              <a:t>KPIs and dashboard visuals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42816"/>
            <a:ext cx="658368" cy="512064"/>
          </a:xfrm>
          <a:prstGeom prst="roundRect">
            <a:avLst>
              <a:gd name="adj" fmla="val 12000"/>
            </a:avLst>
          </a:prstGeom>
          <a:solidFill>
            <a:srgbClr val="E9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352544"/>
            <a:ext cx="5852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0C831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315968"/>
            <a:ext cx="8778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62626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02352"/>
            <a:ext cx="658368" cy="512064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5212080"/>
            <a:ext cx="5852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0C831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175504"/>
            <a:ext cx="8778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262626"/>
                </a:solidFill>
                <a:latin typeface="Aptos"/>
              </a:defRPr>
            </a:pPr>
            <a:r>
              <a:t>Interactivity, learnings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Project Overview &amp;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Using sales data to understand product and outlet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19072"/>
            <a:ext cx="5230368" cy="1874519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719072"/>
            <a:ext cx="91440" cy="1874519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865376"/>
            <a:ext cx="4864607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67712"/>
            <a:ext cx="4864607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646464"/>
                </a:solidFill>
                <a:latin typeface="Aptos"/>
              </a:defRPr>
            </a:pPr>
            <a:r>
              <a:t>An interactive Power BI report analyzing sales across item categories, outlet characteristics, establishment years, and product fat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19072"/>
            <a:ext cx="5230368" cy="1874519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719072"/>
            <a:ext cx="91440" cy="1874519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865376"/>
            <a:ext cx="4864607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67712"/>
            <a:ext cx="4864607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646464"/>
                </a:solidFill>
                <a:latin typeface="Aptos"/>
              </a:defRPr>
            </a:pPr>
            <a:r>
              <a:t>Summarize performance, compare outlet segments, identify leading categories, and let users explore the data through slicers.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77639"/>
            <a:ext cx="68580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262626"/>
                </a:solidFill>
                <a:latin typeface="Aptos"/>
              </a:defRPr>
            </a:pPr>
            <a:r>
              <a:t>Questions this dashboard helps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43984"/>
            <a:ext cx="10515600" cy="1554480"/>
          </a:xfrm>
          <a:prstGeom prst="rect">
            <a:avLst/>
          </a:prstGeom>
          <a:noFill/>
        </p:spPr>
        <p:txBody>
          <a:bodyPr wrap="square" lIns="54864" tIns="27432" rIns="36576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Which item categories contribute the most sales?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Which outlet type and outlet size generate the highest sales?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How are sales distributed between Low Fat and Regular products?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How do sales differ by establishment year and location tier?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Dataset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Source: Kaggle • Dataset contains 12 variables.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19072"/>
            <a:ext cx="4983480" cy="3767328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DATASET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42032"/>
            <a:ext cx="4297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0C831F"/>
                </a:solidFill>
                <a:latin typeface="Aptos"/>
              </a:defRPr>
            </a:pPr>
            <a:r>
              <a:t>12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136392"/>
            <a:ext cx="42519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62626"/>
                </a:solidFill>
                <a:latin typeface="Aptos"/>
              </a:defRPr>
            </a:pPr>
            <a:r>
              <a:t>Product • Sales • Outlet • Customer 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114800"/>
            <a:ext cx="425196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646464"/>
                </a:solidFill>
                <a:latin typeface="Aptos"/>
              </a:defRPr>
            </a:pPr>
            <a:r>
              <a:t>The dataset combines product attributes with sales and outlet information for segment-level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810512"/>
            <a:ext cx="42062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KEY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267712"/>
            <a:ext cx="5166360" cy="3246120"/>
          </a:xfrm>
          <a:prstGeom prst="rect">
            <a:avLst/>
          </a:prstGeom>
          <a:noFill/>
        </p:spPr>
        <p:txBody>
          <a:bodyPr wrap="square" lIns="54864" tIns="27432" rIns="36576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Item Identifier and Item Type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Item Fat Content, Item Weight and Item Visibility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Sales and Rating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Outlet Identifier and Outlet Establishment Year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Outlet Location Type, Outlet Size and Outlet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55778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1">
                <a:solidFill>
                  <a:srgbClr val="646464"/>
                </a:solidFill>
                <a:latin typeface="Aptos"/>
              </a:defRPr>
            </a:pPr>
            <a:r>
              <a:t>These fields support comparisons across products and outlet segments.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Data Cleaning &amp;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Data preparation performed in Power 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3456432" cy="224028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24028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956816"/>
            <a:ext cx="3090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1. Standardize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59152"/>
            <a:ext cx="309067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0" i="0">
                <a:solidFill>
                  <a:srgbClr val="646464"/>
                </a:solidFill>
                <a:latin typeface="Aptos"/>
              </a:defRPr>
            </a:pPr>
            <a:r>
              <a:t>LF  →  Low Fat</a:t>
            </a:r>
          </a:p>
          <a:p>
            <a:pPr algn="l">
              <a:spcAft>
                <a:spcPts val="400"/>
              </a:spcAft>
              <a:defRPr sz="1800" b="0" i="0">
                <a:solidFill>
                  <a:srgbClr val="646464"/>
                </a:solidFill>
                <a:latin typeface="Aptos"/>
              </a:defRPr>
            </a:pPr>
            <a:r>
              <a:t>reg  →  Regular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10512"/>
            <a:ext cx="3456432" cy="224028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810512"/>
            <a:ext cx="91440" cy="2240280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956816"/>
            <a:ext cx="3090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2. Handle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309067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646464"/>
                </a:solidFill>
                <a:latin typeface="Aptos"/>
              </a:defRPr>
            </a:pPr>
            <a:r>
              <a:t>Removed data errors identified during data preparation.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810512"/>
            <a:ext cx="3456432" cy="224028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810512"/>
            <a:ext cx="91440" cy="224028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3024" y="1956816"/>
            <a:ext cx="3090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3. Consistent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359152"/>
            <a:ext cx="309067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646464"/>
                </a:solidFill>
                <a:latin typeface="Aptos"/>
              </a:defRPr>
            </a:pPr>
            <a:r>
              <a:t>Checked and standardized inconsistent categorical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4572000"/>
            <a:ext cx="10561320" cy="914400"/>
          </a:xfrm>
          <a:prstGeom prst="roundRect">
            <a:avLst>
              <a:gd name="adj" fmla="val 12000"/>
            </a:avLst>
          </a:prstGeom>
          <a:solidFill>
            <a:srgbClr val="E9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818888"/>
            <a:ext cx="1691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C831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4754880"/>
            <a:ext cx="8183879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62626"/>
                </a:solidFill>
                <a:latin typeface="Aptos"/>
              </a:defRPr>
            </a:pPr>
            <a:r>
              <a:t>Consistent categories support reliable grouping, filtering, and visual comparisons.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Dashboard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Four headline metrics summarize the overall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55648"/>
            <a:ext cx="5166360" cy="129844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755648"/>
            <a:ext cx="109728" cy="1298448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1920240"/>
            <a:ext cx="2423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62626"/>
                </a:solidFill>
                <a:latin typeface="Aptos"/>
              </a:defRPr>
            </a:pPr>
            <a:r>
              <a:t>$1.20M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95681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1400" b="1" i="0">
                <a:solidFill>
                  <a:srgbClr val="0C831F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532888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rPr dirty="0"/>
              <a:t>Overall sales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755648"/>
            <a:ext cx="5166360" cy="129844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5936" y="1755648"/>
            <a:ext cx="109728" cy="129844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0256" y="1920240"/>
            <a:ext cx="2423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62626"/>
                </a:solidFill>
                <a:latin typeface="Aptos"/>
              </a:defRPr>
            </a:pPr>
            <a:r>
              <a:t>8.52K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195681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1400" b="1" i="0">
                <a:solidFill>
                  <a:srgbClr val="0C831F"/>
                </a:solidFill>
                <a:latin typeface="Aptos"/>
              </a:defRPr>
            </a:pPr>
            <a:r>
              <a:t>Number of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532888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Item count shown in the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93008"/>
            <a:ext cx="5166360" cy="129844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3493008"/>
            <a:ext cx="109728" cy="1298448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7" y="3657600"/>
            <a:ext cx="2423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62626"/>
                </a:solidFill>
                <a:latin typeface="Aptos"/>
              </a:defRPr>
            </a:pPr>
            <a:r>
              <a:t>3.9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369417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1400" b="1" i="0">
                <a:solidFill>
                  <a:srgbClr val="0C831F"/>
                </a:solidFill>
                <a:latin typeface="Aptos"/>
              </a:defRPr>
            </a:pPr>
            <a:r>
              <a:t>Average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4270248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Average customer rating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3493008"/>
            <a:ext cx="5166360" cy="129844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45936" y="3493008"/>
            <a:ext cx="109728" cy="129844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0256" y="3657600"/>
            <a:ext cx="2423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262626"/>
                </a:solidFill>
                <a:latin typeface="Aptos"/>
              </a:defRPr>
            </a:pPr>
            <a:r>
              <a:t>$141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69417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1400" b="1" i="0">
                <a:solidFill>
                  <a:srgbClr val="0C831F"/>
                </a:solidFill>
                <a:latin typeface="Aptos"/>
              </a:defRPr>
            </a:pPr>
            <a:r>
              <a:t>Average 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4270248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Average sales KPI shown in the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623560"/>
            <a:ext cx="10607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1">
                <a:solidFill>
                  <a:srgbClr val="646464"/>
                </a:solidFill>
                <a:latin typeface="Aptos"/>
              </a:defRPr>
            </a:pPr>
            <a:r>
              <a:t>Currency is shown as displayed in the provided dashboard; confirm the dataset currency convention before presenting.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Dashboard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The report combines KPIs, category comparisons, outlet analysis, and slicers.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9" name="Picture 8" descr="The image is a dashboard from the Blinkit app, displaying statistics on sales, ratings, and product categories, including figures like total sales, average sales, and number of items.&#10;&#10;AI-generated content may be incorrect.">
            <a:extLst>
              <a:ext uri="{FF2B5EF4-FFF2-40B4-BE49-F238E27FC236}">
                <a16:creationId xmlns:a16="http://schemas.microsoft.com/office/drawing/2014/main" id="{203F0420-A21A-A8A2-AA44-EDE5E4C47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41" y="1664208"/>
            <a:ext cx="8260188" cy="4901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What Each Visual Explains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Each chart answers a different business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19072"/>
            <a:ext cx="3456432" cy="148132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719072"/>
            <a:ext cx="91440" cy="1481328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865376"/>
            <a:ext cx="3090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Outlet Establishment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67712"/>
            <a:ext cx="30906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46464"/>
                </a:solidFill>
                <a:latin typeface="Aptos"/>
              </a:defRPr>
            </a:pPr>
            <a:r>
              <a:t>Sales associated with outlets by establishment year.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19072"/>
            <a:ext cx="3456432" cy="148132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719072"/>
            <a:ext cx="91440" cy="148132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865376"/>
            <a:ext cx="3090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Top 5 Item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67712"/>
            <a:ext cx="30906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46464"/>
                </a:solidFill>
                <a:latin typeface="Aptos"/>
              </a:defRPr>
            </a:pPr>
            <a:r>
              <a:t>Compares the highest-sales product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719072"/>
            <a:ext cx="3456432" cy="148132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02752" y="1719072"/>
            <a:ext cx="91440" cy="1481328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865376"/>
            <a:ext cx="3090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Fat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67712"/>
            <a:ext cx="30906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46464"/>
                </a:solidFill>
                <a:latin typeface="Aptos"/>
              </a:defRPr>
            </a:pPr>
            <a:r>
              <a:t>Compares sales from Low Fat and Regular products.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593591"/>
            <a:ext cx="3456432" cy="148132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8" y="3593591"/>
            <a:ext cx="91440" cy="148132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3739896"/>
            <a:ext cx="3090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Outlet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142231"/>
            <a:ext cx="30906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46464"/>
                </a:solidFill>
                <a:latin typeface="Aptos"/>
              </a:defRPr>
            </a:pPr>
            <a:r>
              <a:t>Compares sales across Small, Medium, and High outlets.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593591"/>
            <a:ext cx="3456432" cy="148132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3593591"/>
            <a:ext cx="91440" cy="1481328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3739896"/>
            <a:ext cx="3090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Fat by Outlet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4142231"/>
            <a:ext cx="30906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46464"/>
                </a:solidFill>
                <a:latin typeface="Aptos"/>
              </a:defRPr>
            </a:pPr>
            <a:r>
              <a:t>Compares fat-content sales across Tier 1, Tier 2, and Tier 3.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593591"/>
            <a:ext cx="3456432" cy="1481328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02752" y="3593591"/>
            <a:ext cx="91440" cy="148132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3739896"/>
            <a:ext cx="30906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262626"/>
                </a:solidFill>
                <a:latin typeface="Aptos"/>
              </a:defRPr>
            </a:pPr>
            <a:r>
              <a:t>Sales by Outlet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142231"/>
            <a:ext cx="30906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46464"/>
                </a:solidFill>
                <a:latin typeface="Aptos"/>
              </a:defRPr>
            </a:pPr>
            <a:r>
              <a:t>Highlights sales contribution by supermarket and grocery outlet types.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Highlights based on the values displayed in the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5138928" cy="1115568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73936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262626"/>
                </a:solidFill>
                <a:latin typeface="Aptos"/>
              </a:defRPr>
            </a:pPr>
            <a:r>
              <a:t>Top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4663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62626"/>
                </a:solidFill>
                <a:latin typeface="Aptos"/>
              </a:defRPr>
            </a:pPr>
            <a:r>
              <a:t>Fruits &amp; Vegetables ($178K) and Snack Foods ($175K) lead the displayed top five.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664208"/>
            <a:ext cx="5138928" cy="1115568"/>
          </a:xfrm>
          <a:prstGeom prst="roundRect">
            <a:avLst>
              <a:gd name="adj" fmla="val 12000"/>
            </a:avLst>
          </a:prstGeom>
          <a:solidFill>
            <a:srgbClr val="E9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773936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C831F"/>
                </a:solidFill>
                <a:latin typeface="Aptos"/>
              </a:defRPr>
            </a:pPr>
            <a:r>
              <a:t>Outlet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103120"/>
            <a:ext cx="4663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62626"/>
                </a:solidFill>
                <a:latin typeface="Aptos"/>
              </a:defRPr>
            </a:pPr>
            <a:r>
              <a:t>Supermarket Type 1 contributes approximately $0.79M in sales.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63240"/>
            <a:ext cx="5138928" cy="1115568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172968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262626"/>
                </a:solidFill>
                <a:latin typeface="Aptos"/>
              </a:defRPr>
            </a:pPr>
            <a:r>
              <a:t>Outlet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502152"/>
            <a:ext cx="4663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62626"/>
                </a:solidFill>
                <a:latin typeface="Aptos"/>
              </a:defRPr>
            </a:pPr>
            <a:r>
              <a:t>Medium outlets lead at $507.90K, followed by Small ($444.79K) and High ($248.99K).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063240"/>
            <a:ext cx="5138928" cy="1115568"/>
          </a:xfrm>
          <a:prstGeom prst="roundRect">
            <a:avLst>
              <a:gd name="adj" fmla="val 12000"/>
            </a:avLst>
          </a:prstGeom>
          <a:solidFill>
            <a:srgbClr val="E9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172968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C831F"/>
                </a:solidFill>
                <a:latin typeface="Aptos"/>
              </a:defRPr>
            </a:pPr>
            <a:r>
              <a:t>Fat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502152"/>
            <a:ext cx="4663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62626"/>
                </a:solidFill>
                <a:latin typeface="Aptos"/>
              </a:defRPr>
            </a:pPr>
            <a:r>
              <a:t>Low Fat products contribute $776.32K versus $425.36K for Regular products.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462272"/>
            <a:ext cx="5138928" cy="1115568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57200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262626"/>
                </a:solidFill>
                <a:latin typeface="Aptos"/>
              </a:defRPr>
            </a:pPr>
            <a:r>
              <a:t>Establishment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901183"/>
            <a:ext cx="4663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62626"/>
                </a:solidFill>
                <a:latin typeface="Aptos"/>
              </a:defRPr>
            </a:pPr>
            <a:r>
              <a:t>Sales peak at about $205K for outlets established in 2018.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4462272"/>
            <a:ext cx="5138928" cy="1115568"/>
          </a:xfrm>
          <a:prstGeom prst="roundRect">
            <a:avLst>
              <a:gd name="adj" fmla="val 12000"/>
            </a:avLst>
          </a:prstGeom>
          <a:solidFill>
            <a:srgbClr val="E9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457200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C831F"/>
                </a:solidFill>
                <a:latin typeface="Aptos"/>
              </a:defRPr>
            </a:pPr>
            <a:r>
              <a:t>Location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901183"/>
            <a:ext cx="4663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62626"/>
                </a:solidFill>
                <a:latin typeface="Aptos"/>
              </a:defRPr>
            </a:pPr>
            <a:r>
              <a:t>Tier 3 outlets show the highest sales among the three tiers in the displayed chart.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Filters &amp; Interactivity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Slicers allow users to explore specific segments.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401568" cy="2176272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401568" cy="146304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5" y="2240280"/>
            <a:ext cx="2834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0C831F"/>
                </a:solidFill>
                <a:latin typeface="Aptos"/>
              </a:defRPr>
            </a:pPr>
            <a:r>
              <a:t>FILTER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651760"/>
            <a:ext cx="290779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262626"/>
                </a:solidFill>
                <a:latin typeface="Aptos"/>
              </a:defRPr>
            </a:pPr>
            <a:r>
              <a:t>Outlet Location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273552"/>
            <a:ext cx="290779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46464"/>
                </a:solidFill>
                <a:latin typeface="Aptos"/>
              </a:defRPr>
            </a:pPr>
            <a:r>
              <a:t>Filter by Tier 1, Tier 2, or Tier 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1874519"/>
            <a:ext cx="3401568" cy="2176272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44568" y="1874519"/>
            <a:ext cx="3401568" cy="146304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64024" y="2240280"/>
            <a:ext cx="2834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0C831F"/>
                </a:solidFill>
                <a:latin typeface="Aptos"/>
              </a:defRPr>
            </a:pPr>
            <a:r>
              <a:t>FILTER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651760"/>
            <a:ext cx="290779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262626"/>
                </a:solidFill>
                <a:latin typeface="Aptos"/>
              </a:defRPr>
            </a:pPr>
            <a:r>
              <a:t>Outlet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3273552"/>
            <a:ext cx="290779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46464"/>
                </a:solidFill>
                <a:latin typeface="Aptos"/>
              </a:defRPr>
            </a:pPr>
            <a:r>
              <a:t>Focus on a specific outlet format.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874519"/>
            <a:ext cx="3401568" cy="2176272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11896" y="1874519"/>
            <a:ext cx="3401568" cy="146304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31352" y="2240280"/>
            <a:ext cx="2834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0C831F"/>
                </a:solidFill>
                <a:latin typeface="Aptos"/>
              </a:defRPr>
            </a:pPr>
            <a:r>
              <a:t>FILTER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651760"/>
            <a:ext cx="290779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262626"/>
                </a:solidFill>
                <a:latin typeface="Aptos"/>
              </a:defRPr>
            </a:pPr>
            <a:r>
              <a:t>Item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3273552"/>
            <a:ext cx="290779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46464"/>
                </a:solidFill>
                <a:latin typeface="Aptos"/>
              </a:defRPr>
            </a:pPr>
            <a:r>
              <a:t>Explore sales for a selected product category.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600" b="0" i="0">
                <a:solidFill>
                  <a:srgbClr val="262626"/>
                </a:solidFill>
                <a:latin typeface="Aptos"/>
              </a:defRPr>
            </a:pPr>
            <a:r>
              <a:t>When configured to interact with visuals, slicer selections update the relevant KPI cards and charts.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262626"/>
                </a:solidFill>
                <a:latin typeface="Aptos Display"/>
              </a:defRPr>
            </a:pPr>
            <a:r>
              <a:t>Key Learnings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69264"/>
            <a:ext cx="804672" cy="64008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646464"/>
                </a:solidFill>
                <a:latin typeface="Aptos"/>
              </a:defRPr>
            </a:pPr>
            <a:r>
              <a:t>An end-to-end exercise in turning data into business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46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0C831F"/>
                </a:solidFill>
                <a:latin typeface="Aptos"/>
              </a:defRPr>
            </a:pPr>
            <a:r>
              <a:t>WHAT I PRACTISED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5166360" cy="3246120"/>
          </a:xfrm>
          <a:prstGeom prst="rect">
            <a:avLst/>
          </a:prstGeom>
          <a:noFill/>
        </p:spPr>
        <p:txBody>
          <a:bodyPr wrap="square" lIns="54864" tIns="27432" rIns="36576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Data cleaning and categorical standardization in Power Query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Creating KPI cards and DAX-driven metrics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Building bar, donut, and line/area visualizations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Designing an interactive report with slicers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•  Interpreting sales patterns across products and outlets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828800"/>
            <a:ext cx="4937760" cy="3310128"/>
          </a:xfrm>
          <a:prstGeom prst="roundRect">
            <a:avLst>
              <a:gd name="adj" fmla="val 12000"/>
            </a:avLst>
          </a:prstGeom>
          <a:solidFill>
            <a:srgbClr val="FFF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2176272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26262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761488"/>
            <a:ext cx="4187952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0" i="0">
                <a:solidFill>
                  <a:srgbClr val="262626"/>
                </a:solidFill>
                <a:latin typeface="Aptos"/>
              </a:defRPr>
            </a:pPr>
            <a:r>
              <a:t>The dashboard provides a consolidated view of sales performance and helps identify the strongest product and outlet segments for further investigation.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343400"/>
            <a:ext cx="41605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1">
                <a:solidFill>
                  <a:srgbClr val="646464"/>
                </a:solidFill>
                <a:latin typeface="Aptos"/>
              </a:defRPr>
            </a:pPr>
            <a:r>
              <a:t>Further analysis could include profit, outlet count, targets, and time-based data if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C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94360"/>
            <a:ext cx="146304" cy="5577840"/>
          </a:xfrm>
          <a:prstGeom prst="rect">
            <a:avLst/>
          </a:prstGeom>
          <a:solidFill>
            <a:srgbClr val="0C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084831"/>
            <a:ext cx="99669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4200" b="1" i="0">
                <a:solidFill>
                  <a:srgbClr val="262626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9966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900" b="1" i="0">
                <a:solidFill>
                  <a:srgbClr val="0C831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9669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262626"/>
                </a:solidFill>
                <a:latin typeface="Aptos"/>
              </a:defRPr>
            </a:pPr>
            <a:r>
              <a:t>Blinkit Sales Dashboard | Power BI</a:t>
            </a:r>
          </a:p>
          <a:p>
            <a:pPr algn="ctr">
              <a:spcAft>
                <a:spcPts val="400"/>
              </a:spcAft>
              <a:defRPr sz="1400" b="0" i="0">
                <a:solidFill>
                  <a:srgbClr val="262626"/>
                </a:solidFill>
                <a:latin typeface="Aptos"/>
              </a:defRPr>
            </a:pPr>
            <a:r>
              <a:t>Saniya Godikat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812</Words>
  <Application>Microsoft Office PowerPoint</Application>
  <PresentationFormat>Widescreen</PresentationFormat>
  <Paragraphs>146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saniya g</cp:lastModifiedBy>
  <cp:revision>2</cp:revision>
  <dcterms:created xsi:type="dcterms:W3CDTF">2013-01-27T09:14:16Z</dcterms:created>
  <dcterms:modified xsi:type="dcterms:W3CDTF">2026-10-09T15:23:56Z</dcterms:modified>
  <cp:category/>
</cp:coreProperties>
</file>